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Shape 1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1E5BFF"/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502920"/>
            <a:ext cx="73152" cy="73152"/>
          </a:xfrm>
          <a:prstGeom prst="ellipse">
            <a:avLst/>
          </a:prstGeom>
          <a:solidFill>
            <a:srgbClr val="334D99"/>
          </a:solidFill>
          <a:ln/>
        </p:spPr>
      </p:sp>
      <p:sp>
        <p:nvSpPr>
          <p:cNvPr id="5" name="Shape 3"/>
          <p:cNvSpPr/>
          <p:nvPr/>
        </p:nvSpPr>
        <p:spPr>
          <a:xfrm>
            <a:off x="6629400" y="502920"/>
            <a:ext cx="73152" cy="73152"/>
          </a:xfrm>
          <a:prstGeom prst="ellipse">
            <a:avLst/>
          </a:prstGeom>
          <a:solidFill>
            <a:srgbClr val="334D99"/>
          </a:solidFill>
          <a:ln/>
        </p:spPr>
      </p:sp>
      <p:sp>
        <p:nvSpPr>
          <p:cNvPr id="6" name="Shape 4"/>
          <p:cNvSpPr/>
          <p:nvPr/>
        </p:nvSpPr>
        <p:spPr>
          <a:xfrm>
            <a:off x="7040880" y="502920"/>
            <a:ext cx="73152" cy="73152"/>
          </a:xfrm>
          <a:prstGeom prst="ellipse">
            <a:avLst/>
          </a:prstGeom>
          <a:solidFill>
            <a:srgbClr val="334D99"/>
          </a:solidFill>
          <a:ln/>
        </p:spPr>
      </p:sp>
      <p:sp>
        <p:nvSpPr>
          <p:cNvPr id="7" name="Shape 5"/>
          <p:cNvSpPr/>
          <p:nvPr/>
        </p:nvSpPr>
        <p:spPr>
          <a:xfrm>
            <a:off x="7452360" y="502920"/>
            <a:ext cx="73152" cy="73152"/>
          </a:xfrm>
          <a:prstGeom prst="ellipse">
            <a:avLst/>
          </a:prstGeom>
          <a:solidFill>
            <a:srgbClr val="334D99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0" y="502920"/>
            <a:ext cx="73152" cy="73152"/>
          </a:xfrm>
          <a:prstGeom prst="ellipse">
            <a:avLst/>
          </a:prstGeom>
          <a:solidFill>
            <a:srgbClr val="334D99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0" y="914400"/>
            <a:ext cx="73152" cy="73152"/>
          </a:xfrm>
          <a:prstGeom prst="ellipse">
            <a:avLst/>
          </a:prstGeom>
          <a:solidFill>
            <a:srgbClr val="334D99"/>
          </a:solidFill>
          <a:ln/>
        </p:spPr>
      </p:sp>
      <p:sp>
        <p:nvSpPr>
          <p:cNvPr id="10" name="Shape 8"/>
          <p:cNvSpPr/>
          <p:nvPr/>
        </p:nvSpPr>
        <p:spPr>
          <a:xfrm>
            <a:off x="6629400" y="914400"/>
            <a:ext cx="73152" cy="73152"/>
          </a:xfrm>
          <a:prstGeom prst="ellipse">
            <a:avLst/>
          </a:prstGeom>
          <a:solidFill>
            <a:srgbClr val="334D99"/>
          </a:solidFill>
          <a:ln/>
        </p:spPr>
      </p:sp>
      <p:sp>
        <p:nvSpPr>
          <p:cNvPr id="11" name="Shape 9"/>
          <p:cNvSpPr/>
          <p:nvPr/>
        </p:nvSpPr>
        <p:spPr>
          <a:xfrm>
            <a:off x="7040880" y="914400"/>
            <a:ext cx="73152" cy="73152"/>
          </a:xfrm>
          <a:prstGeom prst="ellipse">
            <a:avLst/>
          </a:prstGeom>
          <a:solidFill>
            <a:srgbClr val="334D99"/>
          </a:solidFill>
          <a:ln/>
        </p:spPr>
      </p:sp>
      <p:sp>
        <p:nvSpPr>
          <p:cNvPr id="12" name="Shape 10"/>
          <p:cNvSpPr/>
          <p:nvPr/>
        </p:nvSpPr>
        <p:spPr>
          <a:xfrm>
            <a:off x="7452360" y="914400"/>
            <a:ext cx="73152" cy="73152"/>
          </a:xfrm>
          <a:prstGeom prst="ellipse">
            <a:avLst/>
          </a:prstGeom>
          <a:solidFill>
            <a:srgbClr val="334D99"/>
          </a:solidFill>
          <a:ln/>
        </p:spPr>
      </p:sp>
      <p:sp>
        <p:nvSpPr>
          <p:cNvPr id="13" name="Shape 11"/>
          <p:cNvSpPr/>
          <p:nvPr/>
        </p:nvSpPr>
        <p:spPr>
          <a:xfrm>
            <a:off x="7863840" y="914400"/>
            <a:ext cx="73152" cy="73152"/>
          </a:xfrm>
          <a:prstGeom prst="ellipse">
            <a:avLst/>
          </a:prstGeom>
          <a:solidFill>
            <a:srgbClr val="334D99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1325880"/>
            <a:ext cx="73152" cy="73152"/>
          </a:xfrm>
          <a:prstGeom prst="ellipse">
            <a:avLst/>
          </a:prstGeom>
          <a:solidFill>
            <a:srgbClr val="334D99"/>
          </a:solidFill>
          <a:ln/>
        </p:spPr>
      </p:sp>
      <p:sp>
        <p:nvSpPr>
          <p:cNvPr id="15" name="Shape 13"/>
          <p:cNvSpPr/>
          <p:nvPr/>
        </p:nvSpPr>
        <p:spPr>
          <a:xfrm>
            <a:off x="6629400" y="1325880"/>
            <a:ext cx="73152" cy="73152"/>
          </a:xfrm>
          <a:prstGeom prst="ellipse">
            <a:avLst/>
          </a:prstGeom>
          <a:solidFill>
            <a:srgbClr val="334D99"/>
          </a:solidFill>
          <a:ln/>
        </p:spPr>
      </p:sp>
      <p:sp>
        <p:nvSpPr>
          <p:cNvPr id="16" name="Shape 14"/>
          <p:cNvSpPr/>
          <p:nvPr/>
        </p:nvSpPr>
        <p:spPr>
          <a:xfrm>
            <a:off x="7040880" y="1325880"/>
            <a:ext cx="73152" cy="73152"/>
          </a:xfrm>
          <a:prstGeom prst="ellipse">
            <a:avLst/>
          </a:prstGeom>
          <a:solidFill>
            <a:srgbClr val="334D99"/>
          </a:solidFill>
          <a:ln/>
        </p:spPr>
      </p:sp>
      <p:sp>
        <p:nvSpPr>
          <p:cNvPr id="17" name="Shape 15"/>
          <p:cNvSpPr/>
          <p:nvPr/>
        </p:nvSpPr>
        <p:spPr>
          <a:xfrm>
            <a:off x="7452360" y="1325880"/>
            <a:ext cx="73152" cy="73152"/>
          </a:xfrm>
          <a:prstGeom prst="ellipse">
            <a:avLst/>
          </a:prstGeom>
          <a:solidFill>
            <a:srgbClr val="334D99"/>
          </a:solidFill>
          <a:ln/>
        </p:spPr>
      </p:sp>
      <p:sp>
        <p:nvSpPr>
          <p:cNvPr id="18" name="Shape 16"/>
          <p:cNvSpPr/>
          <p:nvPr/>
        </p:nvSpPr>
        <p:spPr>
          <a:xfrm>
            <a:off x="7863840" y="1325880"/>
            <a:ext cx="73152" cy="73152"/>
          </a:xfrm>
          <a:prstGeom prst="ellipse">
            <a:avLst/>
          </a:prstGeom>
          <a:solidFill>
            <a:srgbClr val="334D99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0" y="1737360"/>
            <a:ext cx="73152" cy="73152"/>
          </a:xfrm>
          <a:prstGeom prst="ellipse">
            <a:avLst/>
          </a:prstGeom>
          <a:solidFill>
            <a:srgbClr val="334D99"/>
          </a:solidFill>
          <a:ln/>
        </p:spPr>
      </p:sp>
      <p:sp>
        <p:nvSpPr>
          <p:cNvPr id="20" name="Shape 18"/>
          <p:cNvSpPr/>
          <p:nvPr/>
        </p:nvSpPr>
        <p:spPr>
          <a:xfrm>
            <a:off x="6629400" y="1737360"/>
            <a:ext cx="73152" cy="73152"/>
          </a:xfrm>
          <a:prstGeom prst="ellipse">
            <a:avLst/>
          </a:prstGeom>
          <a:solidFill>
            <a:srgbClr val="334D99"/>
          </a:solidFill>
          <a:ln/>
        </p:spPr>
      </p:sp>
      <p:sp>
        <p:nvSpPr>
          <p:cNvPr id="21" name="Shape 19"/>
          <p:cNvSpPr/>
          <p:nvPr/>
        </p:nvSpPr>
        <p:spPr>
          <a:xfrm>
            <a:off x="7040880" y="1737360"/>
            <a:ext cx="73152" cy="73152"/>
          </a:xfrm>
          <a:prstGeom prst="ellipse">
            <a:avLst/>
          </a:prstGeom>
          <a:solidFill>
            <a:srgbClr val="334D99"/>
          </a:solidFill>
          <a:ln/>
        </p:spPr>
      </p:sp>
      <p:sp>
        <p:nvSpPr>
          <p:cNvPr id="22" name="Shape 20"/>
          <p:cNvSpPr/>
          <p:nvPr/>
        </p:nvSpPr>
        <p:spPr>
          <a:xfrm>
            <a:off x="7452360" y="1737360"/>
            <a:ext cx="73152" cy="73152"/>
          </a:xfrm>
          <a:prstGeom prst="ellipse">
            <a:avLst/>
          </a:prstGeom>
          <a:solidFill>
            <a:srgbClr val="334D99"/>
          </a:solidFill>
          <a:ln/>
        </p:spPr>
      </p:sp>
      <p:sp>
        <p:nvSpPr>
          <p:cNvPr id="23" name="Shape 21"/>
          <p:cNvSpPr/>
          <p:nvPr/>
        </p:nvSpPr>
        <p:spPr>
          <a:xfrm>
            <a:off x="7863840" y="1737360"/>
            <a:ext cx="73152" cy="73152"/>
          </a:xfrm>
          <a:prstGeom prst="ellipse">
            <a:avLst/>
          </a:prstGeom>
          <a:solidFill>
            <a:srgbClr val="334D99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1234440"/>
            <a:ext cx="2194560" cy="292608"/>
          </a:xfrm>
          <a:prstGeom prst="rect">
            <a:avLst/>
          </a:prstGeom>
          <a:solidFill>
            <a:srgbClr val="E91E8C">
              <a:alpha val="7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12344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ADD5"/>
                </a:solidFill>
              </a:rPr>
              <a:t>CONFIDENTIEL · MÉTA-COACHING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" y="16916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LineCoaching</a:t>
            </a:r>
            <a:endParaRPr lang="en-US" sz="5200" dirty="0"/>
          </a:p>
        </p:txBody>
      </p:sp>
      <p:sp>
        <p:nvSpPr>
          <p:cNvPr id="27" name="Text 25"/>
          <p:cNvSpPr/>
          <p:nvPr/>
        </p:nvSpPr>
        <p:spPr>
          <a:xfrm>
            <a:off x="457200" y="25603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94A3B8"/>
                </a:solidFill>
              </a:rPr>
              <a:t>Audit UX &amp; Hypothèses de Redesign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457200" y="3246120"/>
            <a:ext cx="41148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4015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Fabien Riou  ·  Consultant IA &amp; Automatisation  ·  Juin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5B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 diagnostic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" y="914400"/>
            <a:ext cx="2697480" cy="292608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914400"/>
            <a:ext cx="2697480" cy="82296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109728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91E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58%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47472" y="190195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d'abandon sur le QPP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237744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12 000 démarrages → ~5 000 complétons. La première friction est le profil patient.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697480" cy="292608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14400"/>
            <a:ext cx="2697480" cy="82296"/>
          </a:xfrm>
          <a:prstGeom prst="rect">
            <a:avLst/>
          </a:prstGeom>
          <a:solidFill>
            <a:srgbClr val="1E5BFF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09728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5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CTAs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200400" y="190195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identiques sur l'accueil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37744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Deux boutons au même poids visuel = paralysie de décision (Loi de Hick).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53328" y="914400"/>
            <a:ext cx="2697480" cy="292608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53328" y="914400"/>
            <a:ext cx="2697480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053328" y="109728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Catalogue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053328" y="190195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affiché avant l'action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90488" y="237744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L'utilisateur voit l'offre complète avant de savoir quoi faire. Progressive disclosure violée.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" y="4023360"/>
            <a:ext cx="8449056" cy="685800"/>
          </a:xfrm>
          <a:prstGeom prst="rect">
            <a:avLst/>
          </a:prstGeom>
          <a:solidFill>
            <a:srgbClr val="EBF0FF"/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E5BFF"/>
                </a:solidFill>
              </a:rPr>
              <a:t>Ce n'est pas un problème de contenu. C'est un problème de séquence.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5B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 que font les leaders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5 références analysées : Sleepio  ·  WHOOP  ·  Oura  ·  Noom  ·  Kwit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280160"/>
            <a:ext cx="2697480" cy="35204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280160"/>
            <a:ext cx="2697480" cy="8229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Shape 5"/>
          <p:cNvSpPr/>
          <p:nvPr/>
        </p:nvSpPr>
        <p:spPr>
          <a:xfrm>
            <a:off x="1353312" y="1444752"/>
            <a:ext cx="658368" cy="6583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1353312" y="14447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478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Score synthétique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468880"/>
            <a:ext cx="1828800" cy="274320"/>
          </a:xfrm>
          <a:prstGeom prst="rect">
            <a:avLst/>
          </a:prstGeom>
          <a:solidFill>
            <a:srgbClr val="22C55E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WHOOP · Oura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" y="2834640"/>
            <a:ext cx="2423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Une seule métrique résume la semaine. L'utilisateur sait en 2 secondes comment il se porte — sans capteur, uniquement depuis les carnets LineCoaching.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280160"/>
            <a:ext cx="2697480" cy="3520440"/>
          </a:xfrm>
          <a:prstGeom prst="rect">
            <a:avLst/>
          </a:prstGeom>
          <a:solidFill>
            <a:srgbClr val="EBF0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280160"/>
            <a:ext cx="2697480" cy="82296"/>
          </a:xfrm>
          <a:prstGeom prst="rect">
            <a:avLst/>
          </a:prstGeom>
          <a:solidFill>
            <a:srgbClr val="1E5B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206240" y="1444752"/>
            <a:ext cx="658368" cy="658368"/>
          </a:xfrm>
          <a:prstGeom prst="ellipse">
            <a:avLst/>
          </a:prstGeom>
          <a:solidFill>
            <a:srgbClr val="1E5BFF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0" y="14447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310128" y="2011680"/>
            <a:ext cx="2478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Narrative post-carnet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30168" y="2468880"/>
            <a:ext cx="1828800" cy="274320"/>
          </a:xfrm>
          <a:prstGeom prst="rect">
            <a:avLst/>
          </a:prstGeom>
          <a:solidFill>
            <a:srgbClr val="1E5BFF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630168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5BFF"/>
                </a:solidFill>
              </a:rPr>
              <a:t>Sleepio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2834640"/>
            <a:ext cx="2423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La donnée brute traduite en phrase de coaching : "Vous avez respecté votre faim dans 78% de vos repas — votre record." La donnée devient histoire.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53328" y="1280160"/>
            <a:ext cx="2697480" cy="3520440"/>
          </a:xfrm>
          <a:prstGeom prst="rect">
            <a:avLst/>
          </a:prstGeom>
          <a:solidFill>
            <a:srgbClr val="FCE4F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53328" y="1280160"/>
            <a:ext cx="2697480" cy="82296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23" name="Shape 21"/>
          <p:cNvSpPr/>
          <p:nvPr/>
        </p:nvSpPr>
        <p:spPr>
          <a:xfrm>
            <a:off x="7059168" y="1444752"/>
            <a:ext cx="658368" cy="658368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24" name="Text 22"/>
          <p:cNvSpPr/>
          <p:nvPr/>
        </p:nvSpPr>
        <p:spPr>
          <a:xfrm>
            <a:off x="7059168" y="14447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163056" y="2011680"/>
            <a:ext cx="2478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Plan du jour · 3 tâches max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83096" y="2468880"/>
            <a:ext cx="1828800" cy="274320"/>
          </a:xfrm>
          <a:prstGeom prst="rect">
            <a:avLst/>
          </a:prstGeom>
          <a:solidFill>
            <a:srgbClr val="E91E8C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483096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1E8C"/>
                </a:solidFill>
              </a:rPr>
              <a:t>Noom · Kwit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90488" y="2834640"/>
            <a:ext cx="2423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Pas un catalogue. Une checklist quotidienne de 3 actions maximum. L'utilisateur sait exactement quoi faire aujourd'hui — le reste est masqué.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5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0" y="-1371600"/>
            <a:ext cx="54864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0" b="1" dirty="0">
                <a:solidFill>
                  <a:srgbClr val="2E6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2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685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Hypothèses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d'accueil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548640" y="3200400"/>
            <a:ext cx="41148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3375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7D9FF"/>
                </a:solidFill>
              </a:rPr>
              <a:t>Quelle est la north star de l'expérience LineCoaching 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BA7FF"/>
                </a:solidFill>
              </a:rPr>
              <a:t>4 directions stratégiques — pas des variantes visuelles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5143500"/>
          </a:xfrm>
          <a:prstGeom prst="rect">
            <a:avLst/>
          </a:prstGeom>
          <a:solidFill>
            <a:srgbClr val="0F2A6B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347472"/>
            <a:ext cx="713232" cy="713232"/>
          </a:xfrm>
          <a:prstGeom prst="rect">
            <a:avLst/>
          </a:prstGeom>
          <a:solidFill>
            <a:srgbClr val="1E5BFF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34747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56032" y="1261872"/>
            <a:ext cx="3127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Coach First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1938528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A8C4FF"/>
                </a:solidFill>
              </a:rPr>
              <a:t>"La relation coach EST le produit"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2724912"/>
            <a:ext cx="1920240" cy="274320"/>
          </a:xfrm>
          <a:prstGeom prst="rect">
            <a:avLst/>
          </a:prstGeom>
          <a:solidFill>
            <a:srgbClr val="1E5BFF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2724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↳ Sleepio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032" y="3127248"/>
            <a:ext cx="31272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Le coach en héros plein écran avec message personnalisé. La prochaine séance est mise en avant. L'action programme est recommandée par le coach, pas imposée par le système.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0"/>
            <a:ext cx="5577840" cy="73152"/>
          </a:xfrm>
          <a:prstGeom prst="rect">
            <a:avLst/>
          </a:prstGeom>
          <a:solidFill>
            <a:srgbClr val="1E5BFF"/>
          </a:solidFill>
          <a:ln/>
        </p:spPr>
      </p:sp>
      <p:sp>
        <p:nvSpPr>
          <p:cNvPr id="11" name="Shape 9"/>
          <p:cNvSpPr/>
          <p:nvPr/>
        </p:nvSpPr>
        <p:spPr>
          <a:xfrm>
            <a:off x="3749040" y="256032"/>
            <a:ext cx="5166360" cy="329184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256032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+  Avantages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49040" y="658368"/>
            <a:ext cx="5166360" cy="1325880"/>
          </a:xfrm>
          <a:prstGeom prst="rect">
            <a:avLst/>
          </a:prstGeom>
          <a:noFill/>
          <a:ln/>
        </p:spPr>
        <p:txBody>
          <a:bodyPr wrap="square" lIns="0" tIns="2540" rIns="1905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Différenciateur humain fort vs apps génériques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Crée une relation de confiance dès le J1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Adapté aux profils anxieux ou peu digitaux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49040" y="2084832"/>
            <a:ext cx="5166360" cy="329184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0" y="2084832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⚠️  Points de vigilance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49040" y="2487168"/>
            <a:ext cx="5166360" cy="914400"/>
          </a:xfrm>
          <a:prstGeom prst="rect">
            <a:avLst/>
          </a:prstGeom>
          <a:noFill/>
          <a:ln/>
        </p:spPr>
        <p:txBody>
          <a:bodyPr wrap="square" lIns="0" tIns="2540" rIns="1905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Dépend de la disponibilité et qualité du coach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Scalabilité limitée sans IA coach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49040" y="3547872"/>
            <a:ext cx="5166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3657600"/>
            <a:ext cx="5166360" cy="1188720"/>
          </a:xfrm>
          <a:prstGeom prst="rect">
            <a:avLst/>
          </a:prstGeom>
          <a:noFill/>
          <a:ln/>
        </p:spPr>
        <p:txBody>
          <a:bodyPr wrap="square" lIns="0" tIns="1524" rIns="1524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Recommandé pour les profils relationnels, les premiers mois d'abonnement et les programmes B2B2C avec coach dédié.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5143500"/>
          </a:xfrm>
          <a:prstGeom prst="rect">
            <a:avLst/>
          </a:prstGeom>
          <a:solidFill>
            <a:srgbClr val="0F3B2E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347472"/>
            <a:ext cx="713232" cy="7132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34747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56032" y="1261872"/>
            <a:ext cx="3127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Score du jour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1938528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A3F0C4"/>
                </a:solidFill>
              </a:rPr>
              <a:t>"Je sais comment je me porte en 2 secondes"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2724912"/>
            <a:ext cx="1920240" cy="274320"/>
          </a:xfrm>
          <a:prstGeom prst="rect">
            <a:avLst/>
          </a:prstGeom>
          <a:solidFill>
            <a:srgbClr val="22C55E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2724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↳ WHOOP · Oura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032" y="3127248"/>
            <a:ext cx="31272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Un Score Sensations Alimentaires en héros (jauge circulaire). Basé uniquement sur les carnets — aucun capteur. La causalité est explicite : remplir son carnet améliore son score.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0"/>
            <a:ext cx="5577840" cy="731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Shape 9"/>
          <p:cNvSpPr/>
          <p:nvPr/>
        </p:nvSpPr>
        <p:spPr>
          <a:xfrm>
            <a:off x="3749040" y="256032"/>
            <a:ext cx="5166360" cy="329184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256032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+  Avantages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49040" y="658368"/>
            <a:ext cx="5166360" cy="1325880"/>
          </a:xfrm>
          <a:prstGeom prst="rect">
            <a:avLst/>
          </a:prstGeom>
          <a:noFill/>
          <a:ln/>
        </p:spPr>
        <p:txBody>
          <a:bodyPr wrap="square" lIns="0" tIns="2540" rIns="1905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Fort engagement pour les profils analytiques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Motivation par la progression mesurable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Feedback immédiat sur les comportements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49040" y="2084832"/>
            <a:ext cx="5166360" cy="329184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0" y="2084832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⚠️  Points de vigilance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49040" y="2487168"/>
            <a:ext cx="5166360" cy="914400"/>
          </a:xfrm>
          <a:prstGeom prst="rect">
            <a:avLst/>
          </a:prstGeom>
          <a:noFill/>
          <a:ln/>
        </p:spPr>
        <p:txBody>
          <a:bodyPr wrap="square" lIns="0" tIns="2540" rIns="1905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Nécessite 2–3 semaines de carnets pour être crédible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Peut décourager si score bas au démarrage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49040" y="3547872"/>
            <a:ext cx="5166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3657600"/>
            <a:ext cx="5166360" cy="1188720"/>
          </a:xfrm>
          <a:prstGeom prst="rect">
            <a:avLst/>
          </a:prstGeom>
          <a:noFill/>
          <a:ln/>
        </p:spPr>
        <p:txBody>
          <a:bodyPr wrap="square" lIns="0" tIns="1524" rIns="1524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Recommandé après S3 (données disponibles). Fort pour la rétention long terme. Idéal pour profils analytiques.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5143500"/>
          </a:xfrm>
          <a:prstGeom prst="rect">
            <a:avLst/>
          </a:prstGeom>
          <a:solidFill>
            <a:srgbClr val="6B0843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347472"/>
            <a:ext cx="713232" cy="713232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34747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56032" y="1261872"/>
            <a:ext cx="3127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du jour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1938528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ADD5"/>
                </a:solidFill>
              </a:rPr>
              <a:t>"L'habitude quotidienne est le produit"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2724912"/>
            <a:ext cx="1920240" cy="274320"/>
          </a:xfrm>
          <a:prstGeom prst="rect">
            <a:avLst/>
          </a:prstGeom>
          <a:solidFill>
            <a:srgbClr val="E91E8C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2724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↳ Noom · Kwit · Duolingo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032" y="3127248"/>
            <a:ext cx="31272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Streak 7 jours en haut de l'écran. Checklist de 3 tâches max : carnet matin/midi/soir + action programme. La routine visible rend la progression tangible chaque jour.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0"/>
            <a:ext cx="5577840" cy="73152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11" name="Shape 9"/>
          <p:cNvSpPr/>
          <p:nvPr/>
        </p:nvSpPr>
        <p:spPr>
          <a:xfrm>
            <a:off x="3749040" y="256032"/>
            <a:ext cx="5166360" cy="329184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256032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+  Avantages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49040" y="658368"/>
            <a:ext cx="5166360" cy="1325880"/>
          </a:xfrm>
          <a:prstGeom prst="rect">
            <a:avLst/>
          </a:prstGeom>
          <a:noFill/>
          <a:ln/>
        </p:spPr>
        <p:txBody>
          <a:bodyPr wrap="square" lIns="0" tIns="2540" rIns="1905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Rétention quotidienne forte (pattern Duolingo)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Simple à comprendre et utiliser dès le J1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Sentiment d'accomplissement quotidien visible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49040" y="2084832"/>
            <a:ext cx="5166360" cy="329184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0" y="2084832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⚠️  Points de vigilance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49040" y="2487168"/>
            <a:ext cx="5166360" cy="914400"/>
          </a:xfrm>
          <a:prstGeom prst="rect">
            <a:avLst/>
          </a:prstGeom>
          <a:noFill/>
          <a:ln/>
        </p:spPr>
        <p:txBody>
          <a:bodyPr wrap="square" lIns="0" tIns="2540" rIns="1905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Moins différenciant vs autres apps santé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Risque de devenir mécanique sans sens narratif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49040" y="3547872"/>
            <a:ext cx="5166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3657600"/>
            <a:ext cx="5166360" cy="1188720"/>
          </a:xfrm>
          <a:prstGeom prst="rect">
            <a:avLst/>
          </a:prstGeom>
          <a:noFill/>
          <a:ln/>
        </p:spPr>
        <p:txBody>
          <a:bodyPr wrap="square" lIns="0" tIns="1524" rIns="1524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Recommandé pour test A/B vs Hypothèse A. Meilleur proxy d'engagement quotidien. Résultats mesurables en 4 semaines.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5143500"/>
          </a:xfrm>
          <a:prstGeom prst="rect">
            <a:avLst/>
          </a:prstGeom>
          <a:solidFill>
            <a:srgbClr val="5C3200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347472"/>
            <a:ext cx="713232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34747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56032" y="1261872"/>
            <a:ext cx="3127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Momentum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1938528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D580"/>
                </a:solidFill>
              </a:rPr>
              <a:t>"L'histoire de ma transformation"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2724912"/>
            <a:ext cx="1920240" cy="274320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2724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↳ Sleepio Weekly Review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032" y="3127248"/>
            <a:ext cx="31272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La narrative prime : une phrase traduit les données en histoire de coaching. Arc de progression 8 semaines visible. Table d'impact comportements → résultats (sans capteur).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0"/>
            <a:ext cx="55778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3749040" y="256032"/>
            <a:ext cx="5166360" cy="329184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256032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+  Avantages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49040" y="658368"/>
            <a:ext cx="5166360" cy="1325880"/>
          </a:xfrm>
          <a:prstGeom prst="rect">
            <a:avLst/>
          </a:prstGeom>
          <a:noFill/>
          <a:ln/>
        </p:spPr>
        <p:txBody>
          <a:bodyPr wrap="square" lIns="0" tIns="2540" rIns="1905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Fort pour la rétention à moyen terme (S4–S12)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Renforce la fierté de progression et le sens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Aligné avec la philosophie alimentation intuitive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49040" y="2084832"/>
            <a:ext cx="5166360" cy="329184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0" y="2084832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⚠️  Points de vigilance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49040" y="2487168"/>
            <a:ext cx="5166360" cy="914400"/>
          </a:xfrm>
          <a:prstGeom prst="rect">
            <a:avLst/>
          </a:prstGeom>
          <a:noFill/>
          <a:ln/>
        </p:spPr>
        <p:txBody>
          <a:bodyPr wrap="square" lIns="0" tIns="2540" rIns="1905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Moins immédiat au J1 (données insuffisantes)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Nécessite 4+ semaines de carnets complétés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49040" y="3547872"/>
            <a:ext cx="5166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3657600"/>
            <a:ext cx="5166360" cy="1188720"/>
          </a:xfrm>
          <a:prstGeom prst="rect">
            <a:avLst/>
          </a:prstGeom>
          <a:noFill/>
          <a:ln/>
        </p:spPr>
        <p:txBody>
          <a:bodyPr wrap="square" lIns="0" tIns="1524" rIns="1524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Recommandé comme bilan hebdomadaire (push notif lundi). Pas en écran principal avant S5. Complète les autres hypothèses.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Recommandation &amp; prochaines étapes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3931920" cy="39319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96112"/>
            <a:ext cx="3931920" cy="73152"/>
          </a:xfrm>
          <a:prstGeom prst="rect">
            <a:avLst/>
          </a:prstGeom>
          <a:solidFill>
            <a:srgbClr val="1E5B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241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Recommandation immédiate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BD5E1"/>
                </a:solidFill>
              </a:rPr>
              <a:t>A/B test : Hypothèse A vs Hypothèse 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4 semaines sur les nouvelles inscriptions — mesure rétention J7 et J14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BD5E1"/>
                </a:solidFill>
              </a:rPr>
              <a:t>Hypothèse D → bilan hebdomadaire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Push notification lundi matin — pas en écran principal avant S5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3273552"/>
            <a:ext cx="3657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40156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KPI clés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Taux complétion QPP &gt; 80%  ·  Rétention J7 &gt; 60%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896112"/>
            <a:ext cx="4114800" cy="39319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896112"/>
            <a:ext cx="4114800" cy="73152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0241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Chantiers prioritaires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00600" y="1536192"/>
            <a:ext cx="402336" cy="256032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53619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85232" y="153619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Refonte QPP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85232" y="179222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Une question par écran — abandon &lt; 20%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2286000"/>
            <a:ext cx="402336" cy="256032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228600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85232" y="22860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Accueil post-inscription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85232" y="254203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Fenêtre prescriptive · Pattern Sleepio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3035808"/>
            <a:ext cx="402336" cy="256032"/>
          </a:xfrm>
          <a:prstGeom prst="rect">
            <a:avLst/>
          </a:prstGeom>
          <a:solidFill>
            <a:srgbClr val="1E5BFF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03580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85232" y="303580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Score Sensations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85232" y="329184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Calcul auto depuis carnets, visible à S3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785616"/>
            <a:ext cx="402336" cy="256032"/>
          </a:xfrm>
          <a:prstGeom prst="rect">
            <a:avLst/>
          </a:prstGeom>
          <a:solidFill>
            <a:srgbClr val="1E5BFF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3785616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85232" y="378561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Stats · Réorganisation onglets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85232" y="404164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Sensations en premier — poids en dernier onglet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63440" y="46177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91E8C"/>
                </a:solidFill>
              </a:rPr>
              <a:t>Prochaine séance : validation hypothèse + roadmap Q3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LineCoaching — Audit UX &amp; Hypothèses de Redesign</dc:title>
  <dc:subject>PptxGenJS Presentation</dc:subject>
  <dc:creator>PptxGenJS</dc:creator>
  <cp:lastModifiedBy>PptxGenJS</cp:lastModifiedBy>
  <cp:revision>1</cp:revision>
  <dcterms:created xsi:type="dcterms:W3CDTF">2026-06-12T15:06:24Z</dcterms:created>
  <dcterms:modified xsi:type="dcterms:W3CDTF">2026-06-12T15:06:24Z</dcterms:modified>
</cp:coreProperties>
</file>